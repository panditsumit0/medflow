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B1464"/>
                </a:solidFill>
              </a:defRPr>
            </a:pPr>
            <a:r>
              <a:t>Manipal Hackathon 2026</a:t>
            </a:r>
          </a:p>
          <a:p>
            <a:pPr>
              <a:spcBef>
                <a:spcPts val="800"/>
              </a:spcBef>
              <a:defRPr sz="2000">
                <a:solidFill>
                  <a:srgbClr val="2563EB"/>
                </a:solidFill>
              </a:defRPr>
            </a:pPr>
            <a:r>
              <a:t>Regional Medicine Shortage Intelligence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03120"/>
            <a:ext cx="10362895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37744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700">
                <a:solidFill>
                  <a:srgbClr val="1B1464"/>
                </a:solidFill>
              </a:rPr>
              <a:t>Team Name:           </a:t>
            </a:r>
            <a:r>
              <a:rPr sz="1700">
                <a:solidFill>
                  <a:srgbClr val="0F172A"/>
                </a:solidFill>
              </a:rPr>
              <a:t>[Your Team Name]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B1464"/>
                </a:solidFill>
              </a:rPr>
              <a:t>Track:               </a:t>
            </a:r>
            <a:r>
              <a:rPr sz="1700">
                <a:solidFill>
                  <a:srgbClr val="0F172A"/>
                </a:solidFill>
              </a:rPr>
              <a:t>Healthcare &amp; Public Health Supply Chain / Smart Governance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B1464"/>
                </a:solidFill>
              </a:rPr>
              <a:t>Problem Statement:   </a:t>
            </a:r>
            <a:r>
              <a:rPr sz="1700">
                <a:solidFill>
                  <a:srgbClr val="0F172A"/>
                </a:solidFill>
              </a:rPr>
              <a:t>P10 — From One Empty Shelf to a Regional Shortage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B1464"/>
                </a:solidFill>
              </a:rPr>
              <a:t>Solution Title:      </a:t>
            </a:r>
            <a:r>
              <a:rPr sz="1700">
                <a:solidFill>
                  <a:srgbClr val="0F172A"/>
                </a:solidFill>
              </a:rPr>
              <a:t>MEDFLOW — Regional Medicine Shortage Intelligence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B1464"/>
                </a:solidFill>
              </a:rPr>
              <a:t>Core Pitch:          </a:t>
            </a:r>
            <a:r>
              <a:rPr sz="1700" i="1" b="1">
                <a:solidFill>
                  <a:srgbClr val="2563EB"/>
                </a:solidFill>
              </a:rPr>
              <a:t>"MedFlow predicts medicine shortage risks before they spread and recommends where available stock can be redistributed without manual delays."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1B1464"/>
                </a:solidFill>
              </a:rPr>
              <a:t>Team Members:        </a:t>
            </a:r>
            <a:r>
              <a:rPr sz="1700">
                <a:solidFill>
                  <a:srgbClr val="0F172A"/>
                </a:solidFill>
              </a:rPr>
              <a:t>[Member 1, Member 2, Member 3, Member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464"/>
                </a:solidFill>
              </a:defRPr>
            </a:pPr>
            <a:r>
              <a:t>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461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7452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1464"/>
                </a:solidFill>
              </a:defRPr>
            </a:pPr>
            <a:r>
              <a:t>1. Early Warning Intelligence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P10 Problem: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Declining stock at isolated health facilities is rarely an isolated accident; it is the first visible indicator of a cascading regional supply disruption.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MedFlow Solution: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Calculates daily consumption velocity and active stock runway (days_remaining = stock / daily_usage). Flags multi-facility vulnerabilities 7 to 14 days before stockouts occur.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1416" y="1645920"/>
            <a:ext cx="32461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87452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1464"/>
                </a:solidFill>
              </a:defRPr>
            </a:pPr>
            <a:r>
              <a:t>2. Automated Stock Redistribution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Decision Support: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Rather than waiting for emergency state tenders or distant central depot replenishment, MedFlow matches critical facilities with nearest regional facilities holding positive surplus.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Live Example: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Jaipur Hospital facing 2-day Paracetamol depletion is automatically matched with Kota Hospital (holding 50 days of surplus, ~210 km away) to transfer 500 units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645920"/>
            <a:ext cx="32461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874520"/>
            <a:ext cx="2880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B1464"/>
                </a:solidFill>
              </a:defRPr>
            </a:pPr>
            <a:r>
              <a:t>3. Stress-Test Simulation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Epidemic Surge Modeling: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Healthcare authorities can simulate +10% to +50% disease outbreaks (e.g. seasonal Dengue or Influenza) entirely in-memory with zero risk to operational databases.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Predictive Resilience: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Instantly reveals which medicines instantly collapse into the Critical tier so preventative buffer orders can be dispatched in advance.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464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B1464"/>
                </a:solidFill>
              </a:defRPr>
            </a:pPr>
            <a:r>
              <a:t>1. Technology Stack &amp; Core Engine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1464"/>
                </a:solidFill>
              </a:rPr>
              <a:t>Frontend &amp; UI: </a:t>
            </a:r>
            <a:r>
              <a:rPr sz="1200">
                <a:solidFill>
                  <a:srgbClr val="0F172A"/>
                </a:solidFill>
              </a:rPr>
              <a:t>Next.js (App Router), React 19, TypeScript, Tailwind CSS.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1464"/>
                </a:solidFill>
              </a:rPr>
              <a:t>GIS Mapping: </a:t>
            </a:r>
            <a:r>
              <a:rPr sz="1200">
                <a:solidFill>
                  <a:srgbClr val="0F172A"/>
                </a:solidFill>
              </a:rPr>
              <a:t>Leaflet + OpenStreetMap displaying 10 Rajasthan facilities.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1464"/>
                </a:solidFill>
              </a:rPr>
              <a:t>Data Visualization: </a:t>
            </a:r>
            <a:r>
              <a:rPr sz="1200">
                <a:solidFill>
                  <a:srgbClr val="0F172A"/>
                </a:solidFill>
              </a:rPr>
              <a:t>Recharts for multi-facility consumption trends and stock runway bars.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1464"/>
                </a:solidFill>
              </a:rPr>
              <a:t>Database Ready: </a:t>
            </a:r>
            <a:r>
              <a:rPr sz="1200">
                <a:solidFill>
                  <a:srgbClr val="0F172A"/>
                </a:solidFill>
              </a:rPr>
              <a:t>Supabase PostgreSQL schema (facilities, medicines, inventory, transactions) with environment variable isolation.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1464"/>
                </a:solidFill>
              </a:rPr>
              <a:t>Explainable Math: </a:t>
            </a:r>
            <a:r>
              <a:rPr sz="1200">
                <a:solidFill>
                  <a:srgbClr val="0F172A"/>
                </a:solidFill>
              </a:rPr>
              <a:t>Transparent, non-black-box calculation: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 • Stock Runway: </a:t>
            </a:r>
            <a:r>
              <a:rPr sz="1200">
                <a:solidFill>
                  <a:srgbClr val="0F172A"/>
                </a:solidFill>
              </a:rPr>
              <a:t>days_remaining = current_stock / daily_consumption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 • Pipeline Buffer: </a:t>
            </a:r>
            <a:r>
              <a:rPr sz="1200">
                <a:solidFill>
                  <a:srgbClr val="0F172A"/>
                </a:solidFill>
              </a:rPr>
              <a:t>projected_runway = (current_stock + incoming) / daily_consumption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563EB"/>
                </a:solidFill>
              </a:rPr>
              <a:t> • Regional Shortage: </a:t>
            </a:r>
            <a:r>
              <a:rPr sz="1200">
                <a:solidFill>
                  <a:srgbClr val="0F172A"/>
                </a:solidFill>
              </a:rPr>
              <a:t>Triggered when &gt;= 2 facilities reach &lt;= 7 days 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B1464"/>
                </a:solidFill>
              </a:defRPr>
            </a:pPr>
            <a:r>
              <a:t>2. Algorithmic Redistribution Workflow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B1464"/>
                </a:solidFill>
              </a:rPr>
              <a:t>Step 1: Ingestion &amp; Enrichment
</a:t>
            </a:r>
            <a:r>
              <a:rPr sz="1200">
                <a:solidFill>
                  <a:srgbClr val="0F172A"/>
                </a:solidFill>
              </a:rPr>
              <a:t>Aggregates inventory balance, daily consumption, and incoming orders across all healthcare nodes.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B1464"/>
                </a:solidFill>
              </a:rPr>
              <a:t>Step 2: Risk Classification
</a:t>
            </a:r>
            <a:r>
              <a:rPr sz="1200">
                <a:solidFill>
                  <a:srgbClr val="0F172A"/>
                </a:solidFill>
              </a:rPr>
              <a:t>Categorizes inventory into CRITICAL (0-3d), HIGH (4-7d), WARNING (8-14d), and SAFE (15+d).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B1464"/>
                </a:solidFill>
              </a:rPr>
              <a:t>Step 3: Surplus Detection
</a:t>
            </a:r>
            <a:r>
              <a:rPr sz="1200">
                <a:solidFill>
                  <a:srgbClr val="0F172A"/>
                </a:solidFill>
              </a:rPr>
              <a:t>Filters donor facilities holding positive surplus above safety reorder thresholds (current_stock &gt; reorder_level &amp; days &gt;= 15).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B1464"/>
                </a:solidFill>
              </a:rPr>
              <a:t>Step 4: Spatial Route Optimization
</a:t>
            </a:r>
            <a:r>
              <a:rPr sz="1200">
                <a:solidFill>
                  <a:srgbClr val="0F172A"/>
                </a:solidFill>
              </a:rPr>
              <a:t>Computes Haversine transit distances to pair critical facilities with nearest regional surplus hubs.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B1464"/>
                </a:solidFill>
              </a:rPr>
              <a:t>Step 5: Safe Transfer Calculation
</a:t>
            </a:r>
            <a:r>
              <a:rPr sz="1200">
                <a:solidFill>
                  <a:srgbClr val="0F172A"/>
                </a:solidFill>
              </a:rPr>
              <a:t>Caps suggested transfer to preserve at least 30+ days buffer at donor while elevating destination to safe runway (&gt;20d).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464"/>
                </a:solidFill>
              </a:defRPr>
            </a:pPr>
            <a:r>
              <a:t>Feasibility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Technical Feasibility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Zero Specialized Hardware: Runs as a modern web application accessible by any district hospital pharmacist or state health official via browser.</a:t>
            </a:r>
            <a:br/>
            <a:r>
              <a:t>• No Complex Black-Box ML Dependencies: Explainable mathematical logic builds trust with doctors and healthcare officers who demand transparent reasoning.</a:t>
            </a:r>
            <a:br/>
            <a:r>
              <a:t>• Modular API Architecture: Easily ingests existing hospital management data (e-Aushadhi / HMIS) via standard REST or Supabase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Operational Feasibility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Actionable Decision Support: Does not execute autonomous transfers; outputs structured transfer passes for official human sign-off.</a:t>
            </a:r>
            <a:br/>
            <a:r>
              <a:t>• Highway Transit Distance Awareness: Matches intra-state transport corridors (e.g. Kota to Jaipur in ~3-4 hours via NH52).</a:t>
            </a:r>
            <a:br/>
            <a:r>
              <a:t>• Prevents Transfer Exhaustion: Safeguards donor facilities by preventing transfers that would push the donor below reorder safety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Regulatory &amp; Security Feasibility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Privacy by Design: Operates strictly on facility-level inventory volumes and consumption velocity — zero personal patient identifiable data (PII) required.</a:t>
            </a:r>
            <a:br/>
            <a:r>
              <a:t>• State Healthcare Compliance: Adheres to essential drug lists (EDL) and standard operating procedures (SOPs) for regional redistribution.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Scalability &amp; Extensibility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Low Latency &amp; Cloud Native: Lightweight footprint scales effortlessly from 10 district facilities to 500+ primary health centers (PHCs).</a:t>
            </a:r>
            <a:br/>
            <a:r>
              <a:t>• Rapid Deployment: Instant containerized or serverless hosting with zero expensive GPU requirements.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1464"/>
                </a:solidFill>
              </a:defRPr>
            </a:pPr>
            <a:r>
              <a:t>Business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Target Stakeholders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State Health Authorities (e.g. Rajasthan Medical Services Corporation)</a:t>
            </a:r>
            <a:br/>
            <a:r>
              <a:t>• District Chief Medical &amp; Health Officers (CMHO)</a:t>
            </a:r>
            <a:br/>
            <a:r>
              <a:t>• District Hospital &amp; PHC Store Superintendents</a:t>
            </a:r>
            <a:br/>
            <a:r>
              <a:t>• Private Hospital Consortia &amp; Pharmacy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Value Proposition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Prevents Preventable Mortality: Eliminates fatal stockouts of Insulin, IV Fluids, and Critical Antibiotics.</a:t>
            </a:r>
            <a:br/>
            <a:r>
              <a:t>• Millions in Cost Savings: Drastically reduces emergency spot procurement and medicine expiry from over-stocking.</a:t>
            </a:r>
            <a:br/>
            <a:r>
              <a:t>• Multi-District Proactive Governance: Shifts health administrators from reactive firefighting to automated early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6908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Adoption &amp; Go-To-Market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Phase 1 (Hackathon MVP): 10-facility demonstration across Rajasthan districts with verified live prototype.</a:t>
            </a:r>
            <a:br/>
            <a:r>
              <a:t>• Phase 2 (State Pilot): Integration with state warehouse portal (e-Aushadhi / HMIS) in 3 key healthcare divisions.</a:t>
            </a:r>
            <a:br/>
            <a:r>
              <a:t>• Phase 3 (Enterprise SaaS / GovTech): Multi-state rollout and supply corridor optimization across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02920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4663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1464"/>
                </a:solidFill>
              </a:defRPr>
            </a:pPr>
            <a:r>
              <a:t>Sustainability &amp; Future Roadmap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Open-Standard Interoperability: FHIR and Ayushman Bharat Digital Mission (ABDM) compliance.</a:t>
            </a:r>
            <a:br/>
            <a:r>
              <a:t>• Predictive AI Expansion: Incorporating weather, festival gatherings, and disease surveillance feeds into future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